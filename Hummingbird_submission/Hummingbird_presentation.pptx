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A1033"/>
                </a:solidFill>
              </a:rPr>
              <a:t>Precision@5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CLAP</c:v>
                </c:pt>
              </c:strCache>
            </c:strRef>
          </c:tx>
          <c:spPr>
            <a:solidFill>
              <a:srgbClr val="2BB3A3"/>
            </a:solidFill>
          </c:spPr>
          <c:cat>
            <c:strRef>
              <c:f>Sheet1!$A$2:$A$3</c:f>
              <c:strCache>
                <c:ptCount val="2"/>
                <c:pt idx="0">
                  <c:v>P@5 fine</c:v>
                </c:pt>
                <c:pt idx="1">
                  <c:v>P@5 coarse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0.337</c:v>
                </c:pt>
                <c:pt idx="1">
                  <c:v>0.537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C4BB6"/>
            </a:solidFill>
          </c:spPr>
          <c:cat>
            <c:strRef>
              <c:f>Sheet1!$A$2:$A$3</c:f>
              <c:strCache>
                <c:ptCount val="2"/>
                <c:pt idx="0">
                  <c:v>P@5 fine</c:v>
                </c:pt>
                <c:pt idx="1">
                  <c:v>P@5 coarse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0.276</c:v>
                </c:pt>
                <c:pt idx="1">
                  <c:v>0.462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6B667E"/>
            </a:solidFill>
          </c:spPr>
          <c:cat>
            <c:strRef>
              <c:f>Sheet1!$A$2:$A$3</c:f>
              <c:strCache>
                <c:ptCount val="2"/>
                <c:pt idx="0">
                  <c:v>P@5 fine</c:v>
                </c:pt>
                <c:pt idx="1">
                  <c:v>P@5 coarse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0.132</c:v>
                </c:pt>
                <c:pt idx="1">
                  <c:v>0.265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2A263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DD8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Placeholders in square brackets must be filled in before the viva. The title states the three components: the cold-start framing, the CLAP joint embedding, and subsequence DTW for humming.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two failures. The first is structural in collaborative filtering; the second is an interface problem that keyword search cannot solve because the information the listener holds is acoustic rather than lexical.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Contributions 4 and 5 are the ones that distinguish this from a standard integration project: both are measurement findings that contradicted a reasonable prior expectation.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threads, 44 references, every one cited in the paper. If asked which single work the project rests on: van den Oord 2013 for the premise, Wu 2023 for the embedding actually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dwell on if the panel asks what is novel. The integration is unremarkable on its own; the verification discipline and the two findings it produced are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architectural point: embeddings live in memory as .npy, not in the database. One matmul is sub-millisecond at this scale, so a round-trip per query would be slower for no benefit below about 100,000 recordings.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is a real comparison arm, not a straw man: it is z-scored, which is what made it competitive. Before standardisation it scored 0.138; after, 0.245.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not just use the text encoder for everything: a typed title is a lexical lookup. Semantic search would return songs that sound like the title rather than the song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Subsequence, not plain DTW: the alignment must be free to start and end anywhere in the reference, because a six-second hum corresponds to a short passage somewhere inside the clip.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'why not X' cards are the questions most likely to be asked. Each answer is a measured or structural reason, not a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panel challenges genre agreement as a metric, agree with them — the paper already does, and names the human study as the appropriate instrument and the single most valuable outstanding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catalogue sizes do not establish a scaling law. The claim is the direction of an observed effect, not a quantified relationship — and the paper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lesson: a checkpoint's name and stated training domain are not evidence of fitness. A music-specialised model was the reasonable choice and it was the wrong one. High cosine numbers concealed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framing: cleaning the catalogue raised precision for both engines but raised the random control too, so lift fell slightly even as the numbers improved. Volunteering that reads as rigour.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methodological point rather than the precision table. Most student projects have no controlled negative result; this one has two findings that only measurement could have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-1371600"/>
            <a:ext cx="5852160" cy="5852160"/>
          </a:xfrm>
          <a:prstGeom prst="ellipse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15214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CSE4077 — RECOMMENDER SYSTEMS  ·  PROJECT BASED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Hummingbird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C5BEDB"/>
                </a:solidFill>
                <a:latin typeface="Calibri"/>
              </a:rPr>
              <a:t>A Cold-Start Music Recommendation System Combining Joint Audio–Language Embeddings with Subsequence Dynamic Time Warping for Query-by-Humming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599432"/>
            <a:ext cx="1371600" cy="381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4901184"/>
            <a:ext cx="6583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Rajaa Sasidharan  ·  23MIA1174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B. L. Jainth Vaishnav  ·  23MIA1022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0">
                <a:solidFill>
                  <a:srgbClr val="C5BEDB"/>
                </a:solidFill>
                <a:latin typeface="Calibri"/>
              </a:rPr>
              <a:t>School of Computer Science and Engineering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50" b="0">
                <a:solidFill>
                  <a:srgbClr val="C5BEDB"/>
                </a:solidFill>
                <a:latin typeface="Calibri"/>
              </a:rPr>
              <a:t>Vellore Institute of Technology, Chennai, Tamil Nadu, India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F2A93B"/>
                </a:solidFill>
                <a:latin typeface="Calibri"/>
              </a:rPr>
              <a:t>Guided by Dr S Vigneshwari (54147)  ·  Slot A1+TA1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Two Failures of Music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Both are everyday cases, not edge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91056"/>
            <a:ext cx="5346039" cy="261518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8" y="1828800"/>
            <a:ext cx="384048" cy="384048"/>
          </a:xfrm>
          <a:prstGeom prst="ellipse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865376"/>
            <a:ext cx="428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A1033"/>
                </a:solidFill>
                <a:latin typeface="Cambria"/>
              </a:rPr>
              <a:t>The cold-start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32304"/>
            <a:ext cx="479739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2A263A"/>
                </a:solidFill>
                <a:latin typeface="Calibri"/>
              </a:rPr>
              <a:t>—  Collaborative filtering predicts taste from what many users played together.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2A263A"/>
                </a:solidFill>
                <a:latin typeface="Calibri"/>
              </a:rPr>
              <a:t>—  A new or obscure recording has no play history — so it can never be recommended.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2A263A"/>
                </a:solidFill>
                <a:latin typeface="Calibri"/>
              </a:rPr>
              <a:t>—  Exposure concentrates on what is already popular; the long tail stays invisible.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91056"/>
            <a:ext cx="5346039" cy="261518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53047" y="1828800"/>
            <a:ext cx="384048" cy="384048"/>
          </a:xfrm>
          <a:prstGeom prst="ellipse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5111" y="1865376"/>
            <a:ext cx="428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A1033"/>
                </a:solidFill>
                <a:latin typeface="Cambria"/>
              </a:rPr>
              <a:t>The query-formulation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432304"/>
            <a:ext cx="479739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2A263A"/>
                </a:solidFill>
                <a:latin typeface="Calibri"/>
              </a:rPr>
              <a:t>—  Catalogue search assumes the user can type a title, artist or lyric.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2A263A"/>
                </a:solidFill>
                <a:latin typeface="Calibri"/>
              </a:rPr>
              <a:t>—  Often they remember only a melody, or only a texture and a mood.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2A263A"/>
                </a:solidFill>
                <a:latin typeface="Calibri"/>
              </a:rPr>
              <a:t>—  Neither is a keyword. Both are acoustic.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9884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033"/>
                </a:solidFill>
                <a:latin typeface="Cambria"/>
              </a:rPr>
              <a:t>What a content-based system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956048"/>
            <a:ext cx="341162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2A93B"/>
                </a:solidFill>
                <a:latin typeface="Cambr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50992"/>
            <a:ext cx="341162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user accounts required — the system has no notion of a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2874" y="4956048"/>
            <a:ext cx="341162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6C4BB6"/>
                </a:solidFill>
                <a:latin typeface="Cambria"/>
              </a:rPr>
              <a:t>1,404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2874" y="5650992"/>
            <a:ext cx="341162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recordings recommendable from the moment audio is analysed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8820" y="4956048"/>
            <a:ext cx="341162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6C4BB6"/>
                </a:solidFill>
                <a:latin typeface="Cambria"/>
              </a:rPr>
              <a:t>~45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8820" y="5650992"/>
            <a:ext cx="341162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for a recording absent from the catalogue to become searchable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Objectives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Five claims the project sets out to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627632"/>
            <a:ext cx="402336" cy="402336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609344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Unify four query modalities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920240"/>
            <a:ext cx="1045433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A seed recording, a free-text mood, a typed title or lyric, and a hummed melody — one catalogue, one backend, no user data.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569464"/>
            <a:ext cx="402336" cy="402336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51176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Make humming 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62072"/>
            <a:ext cx="1045433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Vectorised subsequence DTW over a padded melody matrix scores every catalogue melody at once: 2.86 s → 0.53 s.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511296"/>
            <a:ext cx="402336" cy="402336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493008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Compare learned against hand-crafted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803904"/>
            <a:ext cx="1045433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CLAP embeddings versus standardised MFCC, chroma, spectral contrast and tempo — same audio, same metric, with a random control.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453128"/>
            <a:ext cx="402336" cy="402336"/>
          </a:xfrm>
          <a:prstGeom prst="ellipse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434840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Diagnose a degenerate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745736"/>
            <a:ext cx="1045433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A published music-specialised CLAP model put 94% of embedding energy on one shared direction and scored at chance.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394960"/>
            <a:ext cx="402336" cy="402336"/>
          </a:xfrm>
          <a:prstGeom prst="ellipse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5376672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Report a controlled negative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687568"/>
            <a:ext cx="1045433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6B667E"/>
                </a:solidFill>
                <a:latin typeface="Calibri"/>
              </a:rPr>
              <a:t>Anisotropy correction — standard practice for text embeddings — degrades retrieval here, monotonically.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44 references across seven threads; the full review is Section 2 of the paper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3551834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190195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C4BB6"/>
                </a:solidFill>
                <a:latin typeface="Calibri"/>
              </a:rPr>
              <a:t>[1]–[6]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76272"/>
            <a:ext cx="314949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A1033"/>
                </a:solidFill>
                <a:latin typeface="Cambria"/>
              </a:rPr>
              <a:t>Cold start and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23744"/>
            <a:ext cx="314949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667E"/>
                </a:solidFill>
                <a:latin typeface="Calibri"/>
              </a:rPr>
              <a:t>van den Oord 2013 predicts latent factors from audio, so unplayed recordings become recommendable.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737360"/>
            <a:ext cx="3551834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1098" y="190195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C4BB6"/>
                </a:solidFill>
                <a:latin typeface="Calibri"/>
              </a:rPr>
              <a:t>[7], [14]–[18]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2176272"/>
            <a:ext cx="314949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A1033"/>
                </a:solidFill>
                <a:latin typeface="Cambria"/>
              </a:rPr>
              <a:t>Hand-crafted descriptors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523744"/>
            <a:ext cx="314949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667E"/>
                </a:solidFill>
                <a:latin typeface="Calibri"/>
              </a:rPr>
              <a:t>MFCC, chroma and spectral contrast; Tzanetakis 2002 makes genre agreement the conventional proxy.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2932" y="1737360"/>
            <a:ext cx="3551834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4100" y="190195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C4BB6"/>
                </a:solidFill>
                <a:latin typeface="Calibri"/>
              </a:rPr>
              <a:t>[19]–[23]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4100" y="2176272"/>
            <a:ext cx="314949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A1033"/>
                </a:solidFill>
                <a:latin typeface="Cambria"/>
              </a:rPr>
              <a:t>Learned audio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4100" y="2523744"/>
            <a:ext cx="314949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667E"/>
                </a:solidFill>
                <a:latin typeface="Calibri"/>
              </a:rPr>
              <a:t>AudioSet pretraining, PANNs and the HTS-AT transformer that is CLAP's audio branch.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47872"/>
            <a:ext cx="3551834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3712464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C4BB6"/>
                </a:solidFill>
                <a:latin typeface="Calibri"/>
              </a:rPr>
              <a:t>[10]–[12], [24]–[26]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986784"/>
            <a:ext cx="314949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A1033"/>
                </a:solidFill>
                <a:latin typeface="Cambria"/>
              </a:rPr>
              <a:t>Joint audio–language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34256"/>
            <a:ext cx="314949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667E"/>
                </a:solidFill>
                <a:latin typeface="Calibri"/>
              </a:rPr>
              <a:t>CLIP → CLAP → MuLan. One space for audio and text is what makes mood search free.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9930" y="3547872"/>
            <a:ext cx="3551834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21098" y="3712464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C4BB6"/>
                </a:solidFill>
                <a:latin typeface="Calibri"/>
              </a:rPr>
              <a:t>[8], [30]–[35]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098" y="3986784"/>
            <a:ext cx="314949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A1033"/>
                </a:solidFill>
                <a:latin typeface="Cambria"/>
              </a:rPr>
              <a:t>Query by humming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098" y="4334256"/>
            <a:ext cx="314949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667E"/>
                </a:solidFill>
                <a:latin typeface="Calibri"/>
              </a:rPr>
              <a:t>Ghias 1995 onward; YIN and pYIN for pitch, Sakoe–Chiba and Müller for warping.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2932" y="3547872"/>
            <a:ext cx="3551834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74100" y="3712464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C4BB6"/>
                </a:solidFill>
                <a:latin typeface="Calibri"/>
              </a:rPr>
              <a:t>[36]–[40]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4100" y="3986784"/>
            <a:ext cx="314949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A1033"/>
                </a:solidFill>
                <a:latin typeface="Cambria"/>
              </a:rPr>
              <a:t>Embedding geometry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100" y="4334256"/>
            <a:ext cx="314949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667E"/>
                </a:solidFill>
                <a:latin typeface="Calibri"/>
              </a:rPr>
              <a:t>Anisotropy, representation degeneration, the modality gap and hubness — the diagnostic literature.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44982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667E"/>
                </a:solidFill>
                <a:latin typeface="Calibri"/>
              </a:rPr>
              <a:t>Also surveyed: retrieval and diversification — BM25 field weighting [43], maximal marginal relevance [41], topic diversification [42], approximate nearest-neighbour indexing [44]; and evaluation — subjective similarity [27], the Million Song Dataset [28], FMA [29], and Sturm's “horse” critique [13].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C5BEDB"/>
                </a:solidFill>
                <a:latin typeface="Calibri"/>
              </a:rPr>
              <a:t>The components are mature; the integration and its verification are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F2A93B"/>
                </a:solidFill>
                <a:latin typeface="Cambria"/>
              </a:rPr>
              <a:t>Checkpoints are routinely adopted without verifying that the embedding space separates anything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980944"/>
            <a:ext cx="3551834" cy="1920240"/>
          </a:xfrm>
          <a:prstGeom prst="roundRect">
            <a:avLst>
              <a:gd name="adj" fmla="val 7000"/>
            </a:avLst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3200400"/>
            <a:ext cx="311292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NOT COMMONLY 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584448"/>
            <a:ext cx="311292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embedding index serving both audio similarity and text mood retrieval, with a separate melodic index for hummed queries, in a single cold-start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2980944"/>
            <a:ext cx="3551834" cy="1920240"/>
          </a:xfrm>
          <a:prstGeom prst="roundRect">
            <a:avLst>
              <a:gd name="adj" fmla="val 7000"/>
            </a:avLst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9386" y="3200400"/>
            <a:ext cx="311292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RARELY CONTROLLED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386" y="3584448"/>
            <a:ext cx="311292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Precision figures published without a random control, in catalogues whose genre distribution alone can account for most of the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2980944"/>
            <a:ext cx="3551834" cy="1920240"/>
          </a:xfrm>
          <a:prstGeom prst="roundRect">
            <a:avLst>
              <a:gd name="adj" fmla="val 7000"/>
            </a:avLst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92388" y="3200400"/>
            <a:ext cx="311292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ALMOST NEVER 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2388" y="3584448"/>
            <a:ext cx="311292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Whether the chosen checkpoint is degenerate. This project found one that was — and the error was large.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6694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C5BEDB"/>
                </a:solidFill>
                <a:latin typeface="Calibri"/>
              </a:rPr>
              <a:t>Sturm [13] showed that systems can score well on such proxies while responding to confounds rather than to musical content. Every precision figure in this work is therefore reported beside a random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Offline indexing on the left, online query service on the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C4BB6"/>
                </a:solidFill>
                <a:latin typeface="Calibri"/>
              </a:rPr>
              <a:t>OFFLINE INDEXING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B3A3"/>
                </a:solidFill>
                <a:latin typeface="Calibri"/>
              </a:rPr>
              <a:t>ONLINE QUERY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Catalogue assembly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popularity feed + curated singable list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94660" y="2505456"/>
            <a:ext cx="128016" cy="128016"/>
          </a:xfrm>
          <a:prstGeom prst="down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263347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4944" y="274320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Metadata resolution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artist-token verification → preview URL, genre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994660" y="3236976"/>
            <a:ext cx="128016" cy="128016"/>
          </a:xfrm>
          <a:prstGeom prst="down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66928" y="336499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347472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Excerpt download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30 s clips, cached locally, never redistributed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994660" y="3968496"/>
            <a:ext cx="128016" cy="128016"/>
          </a:xfrm>
          <a:prstGeom prst="down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66928" y="409651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4944" y="420624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CLAP audio encoder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10 s windows, mean-pooled → 512-d, L2-normalised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994660" y="4700016"/>
            <a:ext cx="128016" cy="128016"/>
          </a:xfrm>
          <a:prstGeom prst="down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66928" y="482803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4944" y="493776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Baseline features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MFCC + chroma + contrast + tempo → 87-d, z-scored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994660" y="5431536"/>
            <a:ext cx="128016" cy="128016"/>
          </a:xfrm>
          <a:prstGeom prst="down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66928" y="555955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" y="566928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pYIN melody contour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semitones, median-subtracted → 1,346 melodies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90195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E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20256" y="201168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Typed title or lyric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weighted full-text: title ≫ artist ≫ lyrics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63347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E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20256" y="274320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Live metadata fallback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not in catalogue → fetch, return, embed in background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36499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E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20256" y="347472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Free-text mood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CLAP text encoder — same space, no extra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09651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E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620256" y="420624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Hummed query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subsequence DTW over all melodies at once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82803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20256" y="493776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Cosine similarity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one matrix–vector product over the 512-d matrix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5559552"/>
            <a:ext cx="4983480" cy="60350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620256" y="5669280"/>
            <a:ext cx="47274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A263A"/>
                </a:solidFill>
                <a:latin typeface="Calibri"/>
              </a:rPr>
              <a:t>Optional MMR re-ranking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trades relevance for diversity in the list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641848" y="2203704"/>
            <a:ext cx="768096" cy="155448"/>
          </a:xfrm>
          <a:prstGeom prst="right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ight Arrow 36"/>
          <p:cNvSpPr/>
          <p:nvPr/>
        </p:nvSpPr>
        <p:spPr>
          <a:xfrm>
            <a:off x="5641848" y="2935224"/>
            <a:ext cx="768096" cy="155448"/>
          </a:xfrm>
          <a:prstGeom prst="right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ight Arrow 37"/>
          <p:cNvSpPr/>
          <p:nvPr/>
        </p:nvSpPr>
        <p:spPr>
          <a:xfrm>
            <a:off x="5641848" y="3666744"/>
            <a:ext cx="768096" cy="155448"/>
          </a:xfrm>
          <a:prstGeom prst="rightArrow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92240" y="6309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67E"/>
                </a:solidFill>
                <a:latin typeface="Calibri"/>
              </a:rPr>
              <a:t>Audio streams from the rights holder's own preview endpoint — the backend serves JSON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Two Audio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The controlled comparison: identical excerpts, identical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9344"/>
            <a:ext cx="5346039" cy="45537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687671" y="1810512"/>
            <a:ext cx="1005840" cy="384048"/>
          </a:xfrm>
          <a:prstGeom prst="roundRect">
            <a:avLst>
              <a:gd name="adj" fmla="val 7000"/>
            </a:avLst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512-d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3791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Learned — CLAP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57984"/>
            <a:ext cx="48705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67E"/>
                </a:solidFill>
                <a:latin typeface="Calibri"/>
              </a:rPr>
              <a:t>laion/clap-htsat-unfused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42032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2BB3A3"/>
                </a:solidFill>
                <a:latin typeface="Calibri"/>
              </a:rPr>
              <a:t>Encoder  </a:t>
            </a:r>
            <a:r>
              <a:rPr sz="1250">
                <a:solidFill>
                  <a:srgbClr val="2A263A"/>
                </a:solidFill>
                <a:latin typeface="Calibri"/>
              </a:rPr>
              <a:t>HTS-AT audio transformer [22], contrastively trained against natural-language captions [10]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64408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2BB3A3"/>
                </a:solidFill>
                <a:latin typeface="Calibri"/>
              </a:rPr>
              <a:t>Windowing  </a:t>
            </a:r>
            <a:r>
              <a:rPr sz="1250">
                <a:solidFill>
                  <a:srgbClr val="2A263A"/>
                </a:solidFill>
                <a:latin typeface="Calibri"/>
              </a:rPr>
              <a:t>consecutive whole 10 s windows, embedded independently, mean-pooled, then L2-normalised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86784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2BB3A3"/>
                </a:solidFill>
                <a:latin typeface="Calibri"/>
              </a:rPr>
              <a:t>Deterministic  </a:t>
            </a:r>
            <a:r>
              <a:rPr sz="1250">
                <a:solidFill>
                  <a:srgbClr val="2A263A"/>
                </a:solidFill>
                <a:latin typeface="Calibri"/>
              </a:rPr>
              <a:t>random truncation replaced — embedding a clip twice must give the same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709160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2BB3A3"/>
                </a:solidFill>
                <a:latin typeface="Calibri"/>
              </a:rPr>
              <a:t>Fusion off  </a:t>
            </a:r>
            <a:r>
              <a:rPr sz="1250">
                <a:solidFill>
                  <a:srgbClr val="2A263A"/>
                </a:solidFill>
                <a:latin typeface="Calibri"/>
              </a:rPr>
              <a:t>is_longer held false; this checkpoint never trained the feature-fusion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431536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2BB3A3"/>
                </a:solidFill>
                <a:latin typeface="Calibri"/>
              </a:rPr>
              <a:t>Bonus  </a:t>
            </a:r>
            <a:r>
              <a:rPr sz="1250">
                <a:solidFill>
                  <a:srgbClr val="2A263A"/>
                </a:solidFill>
                <a:latin typeface="Calibri"/>
              </a:rPr>
              <a:t>audio and text share one space, so free-text mood search needs no second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609344"/>
            <a:ext cx="5346039" cy="45537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0399471" y="1810512"/>
            <a:ext cx="1005840" cy="384048"/>
          </a:xfrm>
          <a:prstGeom prst="roundRect">
            <a:avLst>
              <a:gd name="adj" fmla="val 7000"/>
            </a:avLst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87-d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471" y="1828800"/>
            <a:ext cx="3791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Hand-crafted —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471" y="2157984"/>
            <a:ext cx="48705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67E"/>
                </a:solidFill>
                <a:latin typeface="Calibri"/>
              </a:rPr>
              <a:t>librosa descriptors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2542032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6C4BB6"/>
                </a:solidFill>
                <a:latin typeface="Calibri"/>
              </a:rPr>
              <a:t>MFCC  </a:t>
            </a:r>
            <a:r>
              <a:rPr sz="1250">
                <a:solidFill>
                  <a:srgbClr val="2A263A"/>
                </a:solidFill>
                <a:latin typeface="Calibri"/>
              </a:rPr>
              <a:t>20 coefficients, mean and standard deviation → 40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471" y="3264408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6C4BB6"/>
                </a:solidFill>
                <a:latin typeface="Calibri"/>
              </a:rPr>
              <a:t>Chroma  </a:t>
            </a:r>
            <a:r>
              <a:rPr sz="1250">
                <a:solidFill>
                  <a:srgbClr val="2A263A"/>
                </a:solidFill>
                <a:latin typeface="Calibri"/>
              </a:rPr>
              <a:t>12-bin constant-Q, mean and std → 24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3986784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6C4BB6"/>
                </a:solidFill>
                <a:latin typeface="Calibri"/>
              </a:rPr>
              <a:t>Spectral contrast  </a:t>
            </a:r>
            <a:r>
              <a:rPr sz="1250">
                <a:solidFill>
                  <a:srgbClr val="2A263A"/>
                </a:solidFill>
                <a:latin typeface="Calibri"/>
              </a:rPr>
              <a:t>7 bands, mean and std → 14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4709160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6C4BB6"/>
                </a:solidFill>
                <a:latin typeface="Calibri"/>
              </a:rPr>
              <a:t>Shape and energy  </a:t>
            </a:r>
            <a:r>
              <a:rPr sz="1250">
                <a:solidFill>
                  <a:srgbClr val="2A263A"/>
                </a:solidFill>
                <a:latin typeface="Calibri"/>
              </a:rPr>
              <a:t>centroid, roll-off, zero-crossing rate, RMS → 8 values; plus tempo →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471" y="5431536"/>
            <a:ext cx="4870551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6C4BB6"/>
                </a:solidFill>
                <a:latin typeface="Calibri"/>
              </a:rPr>
              <a:t>Standardised  </a:t>
            </a:r>
            <a:r>
              <a:rPr sz="1250">
                <a:solidFill>
                  <a:srgbClr val="2A263A"/>
                </a:solidFill>
                <a:latin typeface="Calibri"/>
              </a:rPr>
              <a:t>every dimension z-scored — without it, cosine is decided by whichever column has the largest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Algorithm 1: Unified Query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One endpoint returns the song the user meant, then what sounds like it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19072"/>
            <a:ext cx="365760" cy="365760"/>
          </a:xfrm>
          <a:prstGeom prst="ellipse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66420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mbria"/>
              </a:rPr>
              <a:t>Full-text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55064"/>
            <a:ext cx="7498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2A263A"/>
                </a:solidFill>
                <a:latin typeface="Calibri"/>
              </a:rPr>
              <a:t>Weighted index: a title match outranks an artist match, which outranks a lyric match. BM25 weights 10 / 4 /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2084832"/>
            <a:ext cx="15240" cy="457200"/>
          </a:xfrm>
          <a:prstGeom prst="rect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6928" y="2596896"/>
            <a:ext cx="365760" cy="365760"/>
          </a:xfrm>
          <a:prstGeom prst="ellipse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54203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mbria"/>
              </a:rPr>
              <a:t>Is there a title hit?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32888"/>
            <a:ext cx="7498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2A263A"/>
                </a:solidFill>
                <a:latin typeface="Calibri"/>
              </a:rPr>
              <a:t>If the typed string matched a title, that recording is the answer. Routing a title through a text encoder would return plausible wrong songs.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" y="2962656"/>
            <a:ext cx="15240" cy="457200"/>
          </a:xfrm>
          <a:prstGeom prst="rect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66928" y="3474720"/>
            <a:ext cx="365760" cy="36576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419856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mbria"/>
              </a:rPr>
              <a:t>Live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10712"/>
            <a:ext cx="7498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2A263A"/>
                </a:solidFill>
                <a:latin typeface="Calibri"/>
              </a:rPr>
              <a:t>No title hit → ask the external metadata service. Accept only if every query word appears in the returned title.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" y="3840480"/>
            <a:ext cx="15240" cy="457200"/>
          </a:xfrm>
          <a:prstGeom prst="rect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66928" y="4352544"/>
            <a:ext cx="365760" cy="36576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29768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mbria"/>
              </a:rPr>
              <a:t>Insert and 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88536"/>
            <a:ext cx="7498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2A263A"/>
                </a:solidFill>
                <a:latin typeface="Calibri"/>
              </a:rPr>
              <a:t>Return the recording immediately; embed its excerpt in a background task so later queries can use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" y="4718304"/>
            <a:ext cx="15240" cy="457200"/>
          </a:xfrm>
          <a:prstGeom prst="rect">
            <a:avLst/>
          </a:prstGeom>
          <a:solidFill>
            <a:srgbClr val="DD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66928" y="5230368"/>
            <a:ext cx="365760" cy="365760"/>
          </a:xfrm>
          <a:prstGeom prst="ellipse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5175504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mbria"/>
              </a:rPr>
              <a:t>Rank neighbours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66360"/>
            <a:ext cx="74980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2A263A"/>
                </a:solidFill>
                <a:latin typeface="Calibri"/>
              </a:rPr>
              <a:t>Normalise, one matrix–vector product, take the top 3k as a candidate pool, optional MMR for diversity.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053328"/>
            <a:ext cx="11057839" cy="566928"/>
          </a:xfrm>
          <a:prstGeom prst="roundRect">
            <a:avLst>
              <a:gd name="adj" fmla="val 7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618134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9A620E"/>
                </a:solidFill>
                <a:latin typeface="Calibri"/>
              </a:rPr>
              <a:t>Bug this ordering fixes:  </a:t>
            </a:r>
            <a:r>
              <a:rPr sz="1250">
                <a:solidFill>
                  <a:srgbClr val="2A263A"/>
                </a:solidFill>
                <a:latin typeface="Calibri"/>
              </a:rPr>
              <a:t>a rate-limited external lookup once returned a truthy but match-less result that discarded a good local hit, so the lyric “caught in a landslide” returned nothing. Transport failure and genuine absence must be distinguished.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Algorithm 2: Subsequence DTW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A short hum must align with some stretch inside a 30 s clip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9344"/>
            <a:ext cx="6766560" cy="30540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1792224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C4BB6"/>
                </a:solidFill>
                <a:latin typeface="Calibri"/>
              </a:rPr>
              <a:t>THE RECURRENCE, ADVANCED FOR ALL MELODIES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309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onsolas"/>
              </a:rPr>
              <a:t>D  ←  |R − c[0]|                  row 0: free start anywhere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77440"/>
            <a:ext cx="6309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onsolas"/>
              </a:rPr>
              <a:t>for i ← 1 .. n−1: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51760"/>
            <a:ext cx="6309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onsolas"/>
              </a:rPr>
              <a:t>    E  ←  |R − c[i]|              local distance, every ref at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26080"/>
            <a:ext cx="6309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onsolas"/>
              </a:rPr>
              <a:t>    A  ←  shift(D, 1)   col 0 ← PAD    move (i−1, j−1)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6309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onsolas"/>
              </a:rPr>
              <a:t>    B  ←  shift(D, 2)   col 0,1 ← PAD  move (i−1, j−2)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74720"/>
            <a:ext cx="6309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onsolas"/>
              </a:rPr>
              <a:t>    D  ←  E + min(D, A, B)          elementwise over N ×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49040"/>
            <a:ext cx="6309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onsolas"/>
              </a:rPr>
              <a:t>cost ← min over valid j of D[r, j] / n   free end anywhere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33087"/>
            <a:ext cx="6309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1">
                <a:solidFill>
                  <a:srgbClr val="6B667E"/>
                </a:solidFill>
                <a:latin typeface="Calibri"/>
              </a:rPr>
              <a:t>R is every contour packed into one padded N × W matrix. Five tempo scalings {0.7, 0.85, 1.0, 1.2, 1.5} are tried and the best cost kept.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609344"/>
            <a:ext cx="4572000" cy="1426464"/>
          </a:xfrm>
          <a:prstGeom prst="roundRect">
            <a:avLst>
              <a:gd name="adj" fmla="val 7000"/>
            </a:avLst>
          </a:prstGeom>
          <a:solidFill>
            <a:srgbClr val="1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0" y="18105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WHY IT IS 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39696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All three moves advance the query by exactly one frame, so row i depends only on row i−1. A horizontal move would serialise the inner loop and make numpy useless.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186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6B667E"/>
                </a:solidFill>
                <a:latin typeface="Cambria"/>
              </a:rPr>
              <a:t>43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6393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667E"/>
                </a:solidFill>
                <a:latin typeface="Calibri"/>
              </a:rPr>
              <a:t>per track, scored one at a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22452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B3A3"/>
                </a:solidFill>
                <a:latin typeface="Cambria"/>
              </a:rPr>
              <a:t>2.86 s → 0.53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6451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667E"/>
                </a:solidFill>
                <a:latin typeface="Calibri"/>
              </a:rPr>
              <a:t>end-to-end hum latency, vectorised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5266944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0" y="5431536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Contour extraction is identical for a hum and for an indexed clip: pYIN → semitones → median subtracted, which makes matching key-invariant.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Every component keyless and free — a constraint of the deployment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613583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86384" y="1847088"/>
            <a:ext cx="329184" cy="329184"/>
          </a:xfrm>
          <a:prstGeom prst="ellipse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883664"/>
            <a:ext cx="1754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4086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FastAPI, JSON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0662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PyAV for all decoding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7238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librosa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3814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numpy brute-force cosine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1679" y="1645920"/>
            <a:ext cx="2613583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601135" y="1847088"/>
            <a:ext cx="329184" cy="329184"/>
          </a:xfrm>
          <a:prstGeom prst="ellipse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1759" y="1883664"/>
            <a:ext cx="1754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1135" y="234086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SQLite + FTS5 (default)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1135" y="270662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Postgres + tsvector (deployed)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35" y="307238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verified to agree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343814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embeddings as .npy in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6431" y="1645920"/>
            <a:ext cx="2613583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15887" y="1847088"/>
            <a:ext cx="329184" cy="32918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6511" y="1883664"/>
            <a:ext cx="1754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Clients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34086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React + Vite + TypeScript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70662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React Native / Expo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307238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MediaRecorder for humming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343814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audio from Apple's CDN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1183" y="1645920"/>
            <a:ext cx="2613583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230639" y="1847088"/>
            <a:ext cx="329184" cy="329184"/>
          </a:xfrm>
          <a:prstGeom prst="ellipse">
            <a:avLst/>
          </a:prstGeom>
          <a:solidFill>
            <a:srgbClr val="6C4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1263" y="1883664"/>
            <a:ext cx="1754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Data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639" y="234086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ListenBrainz popularity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0639" y="270662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iTunes Search (previews, genre)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0639" y="307238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LRCLIB lyrics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0639" y="3438144"/>
            <a:ext cx="217467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·  curated singable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169663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033"/>
                </a:solidFill>
                <a:latin typeface="Cambria"/>
              </a:rPr>
              <a:t>Decisions worth defending in a viva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572000"/>
            <a:ext cx="3551834" cy="170078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86384" y="475488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C4BB6"/>
                </a:solidFill>
                <a:latin typeface="Calibri"/>
              </a:rPr>
              <a:t>Why not FAISS or pgvector?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102352"/>
            <a:ext cx="311292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alibri"/>
              </a:rPr>
              <a:t>At a few thousand recordings, cosine search is one matrix multiply and sub-millisecond. An approximate index adds a dependency and an approximation for no measurable gain below ~100k.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19930" y="4572000"/>
            <a:ext cx="3551834" cy="170078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39386" y="475488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C4BB6"/>
                </a:solidFill>
                <a:latin typeface="Calibri"/>
              </a:rPr>
              <a:t>Why PyAV rather than libsndfile?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9386" y="5102352"/>
            <a:ext cx="311292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alibri"/>
              </a:rPr>
              <a:t>iTunes previews are AAC and browser recordings are Opus. libsndfile reads neither and there is no system ffmpeg; PyAV ships its own decoders inside the wheel.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2932" y="4572000"/>
            <a:ext cx="3551834" cy="1700784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92388" y="475488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C4BB6"/>
                </a:solidFill>
                <a:latin typeface="Calibri"/>
              </a:rPr>
              <a:t>Why keep SQLite at all?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2388" y="5102352"/>
            <a:ext cx="311292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alibri"/>
              </a:rPr>
              <a:t>It needs no credentials, so every reported number reproduces from a fresh clone. Postgres is the deployment path, not the measurement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Genre-agreement precision@k — and why the control column decides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685800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C4BB6"/>
                </a:solidFill>
                <a:latin typeface="Calibri"/>
              </a:rPr>
              <a:t>THE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9696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A263A"/>
                </a:solidFill>
                <a:latin typeface="Calibri"/>
              </a:rPr>
              <a:t>Each of the 1,404 recordings is used in turn as a seed. Precision@k is the proportion of its top-k neighbours carrying the seed's genre label, averaged over all seeds. Scored twice: against the 46 raw labels (“fine”) and against 31 coarse families, since the raw labels separate categories that are not acoustically distinct.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627632"/>
            <a:ext cx="3959352" cy="1920240"/>
          </a:xfrm>
          <a:prstGeom prst="roundRect">
            <a:avLst>
              <a:gd name="adj" fmla="val 7000"/>
            </a:avLst>
          </a:prstGeom>
          <a:solidFill>
            <a:srgbClr val="1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36992" y="1810512"/>
            <a:ext cx="3447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THE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139696"/>
            <a:ext cx="34472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k recordings drawn uniformly at random. In a catalogue that is 40% one genre, a random recommender scores 0.40 by accident — so absolute precision proves nothing and lift is the primary quantity.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85615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033"/>
                </a:solidFill>
                <a:latin typeface="Cambria"/>
              </a:rPr>
              <a:t>What the metric cannot 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206240"/>
            <a:ext cx="3551834" cy="1591056"/>
          </a:xfrm>
          <a:prstGeom prst="roundRect">
            <a:avLst>
              <a:gd name="adj" fmla="val 7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438912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9A620E"/>
                </a:solidFill>
                <a:latin typeface="Calibri"/>
              </a:rPr>
              <a:t>Genre is a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736592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alibri"/>
              </a:rPr>
              <a:t>Two Rock recordings that sound nothing alike count as a hit; two similar recordings labelled differently count as a miss.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930" y="4206240"/>
            <a:ext cx="3551834" cy="1591056"/>
          </a:xfrm>
          <a:prstGeom prst="roundRect">
            <a:avLst>
              <a:gd name="adj" fmla="val 7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39386" y="438912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9A620E"/>
                </a:solidFill>
                <a:latin typeface="Calibri"/>
              </a:rPr>
              <a:t>The human study is not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4736592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alibri"/>
              </a:rPr>
              <a:t>20 seeds × top-5, rated 1–5 with inter-rater agreement, is designed but unrun. No result from it is claimed.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2932" y="4206240"/>
            <a:ext cx="3551834" cy="1591056"/>
          </a:xfrm>
          <a:prstGeom prst="roundRect">
            <a:avLst>
              <a:gd name="adj" fmla="val 7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92388" y="438912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9A620E"/>
                </a:solidFill>
                <a:latin typeface="Calibri"/>
              </a:rPr>
              <a:t>Humming is an upper 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2388" y="4736592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2A263A"/>
                </a:solidFill>
                <a:latin typeface="Calibri"/>
              </a:rPr>
              <a:t>8/25 in the top 10 was measured on synthesised perfect hums against 479 melodies. Real hums can only score lower.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99846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667E"/>
                </a:solidFill>
                <a:latin typeface="Calibri"/>
              </a:rPr>
              <a:t>Stating these in the paper rather than in the viva is the point: a proxy metric reported without its weaknesses is the failure Sturm [13] described.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1,404 recordings, 46 genre labels, every recording used as a seed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82496"/>
          <a:ext cx="6857998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7493"/>
                <a:gridCol w="868101"/>
                <a:gridCol w="781291"/>
                <a:gridCol w="954911"/>
                <a:gridCol w="954911"/>
                <a:gridCol w="781291"/>
              </a:tblGrid>
              <a:tr h="402336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P@5 fine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P@10 fine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P@5 coarse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CLAP  clap-htsat-unfused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0.337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2.55×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0.321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0.537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2.03×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Baseline  MFCC / chroma, z-scored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0.276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2.08×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0.255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0.462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1.74×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Random control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1.00×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0.129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0.265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263A"/>
                          </a:solidFill>
                          <a:latin typeface="Calibri"/>
                        </a:rPr>
                        <a:t>1.00×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80960" y="1554480"/>
          <a:ext cx="3959352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419856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How the gap between engines moved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822191"/>
          <a:ext cx="685799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5"/>
                <a:gridCol w="881742"/>
                <a:gridCol w="979714"/>
                <a:gridCol w="881742"/>
                <a:gridCol w="979714"/>
              </a:tblGrid>
              <a:tr h="365760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CLAP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Random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CLAP lead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529 recordings, uncorrected metadata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0.295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0.256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529 recordings, corrected metadata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0.332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0.154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1,404 recordings, corrected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0.337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0.276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263A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0" y="4535424"/>
            <a:ext cx="3959352" cy="1737360"/>
          </a:xfrm>
          <a:prstGeom prst="roundRect">
            <a:avLst>
              <a:gd name="adj" fmla="val 7000"/>
            </a:avLst>
          </a:prstGeom>
          <a:solidFill>
            <a:srgbClr val="E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36992" y="4718304"/>
            <a:ext cx="3447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16B62"/>
                </a:solidFill>
                <a:latin typeface="Calibri"/>
              </a:rPr>
              <a:t>THE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5047488"/>
            <a:ext cx="3447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A263A"/>
                </a:solidFill>
                <a:latin typeface="Calibri"/>
              </a:rPr>
              <a:t>Cleaning the metadata narrowed CLAP's lead from 15% to 7%. Tripling the catalogue widened it to 22% — but because the baseline fell (0.310 → 0.276) while CLAP held steady.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76672"/>
            <a:ext cx="68580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A fixed 87-dimension summary vector separates a few hundred recordings across a handful of genres well enough. It stops coping at 1,404 recordings across 46 labels. The random control fell too (0.154 → 0.132) as genre spread widened, so part of the lift rise is the control getting harder — but the baseline's drop in absolute precision cannot be explained that 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Finding 1: A Degenerate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The most consequential result concerned model selection, not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9344"/>
            <a:ext cx="11057839" cy="749808"/>
          </a:xfrm>
          <a:prstGeom prst="roundRect">
            <a:avLst>
              <a:gd name="adj" fmla="val 7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9A620E"/>
                </a:solidFill>
                <a:latin typeface="Calibri"/>
              </a:rPr>
              <a:t>The first index returned Billie Jean as the nearest neighbour of Take Five at cosine 0.992 — and every pair scored about 0.99.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7860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033"/>
                </a:solidFill>
                <a:latin typeface="Cambria"/>
              </a:rPr>
              <a:t>Four faults, found by measurement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80944"/>
            <a:ext cx="5486400" cy="713232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3072384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033"/>
                </a:solidFill>
                <a:latin typeface="Calibri"/>
              </a:rPr>
              <a:t>1.  Baseline never standardised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32841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MFCCs run to the hundreds, chroma sits in [0,1] — cosine was decided by one column.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33284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BB3A3"/>
                </a:solidFill>
                <a:latin typeface="Calibri"/>
              </a:rPr>
              <a:t>P@5  0.138 → 0.245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67328"/>
            <a:ext cx="5486400" cy="713232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3858768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033"/>
                </a:solidFill>
                <a:latin typeface="Calibri"/>
              </a:rPr>
              <a:t>2.  is_longer set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11480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Routed audio through a feature-fusion branch this checkpoint never trained.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4114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BB3A3"/>
                </a:solidFill>
                <a:latin typeface="Calibri"/>
              </a:rPr>
              <a:t>mean cosine  0.92 → 0.73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53712"/>
            <a:ext cx="5486400" cy="713232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4645152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033"/>
                </a:solidFill>
                <a:latin typeface="Calibri"/>
              </a:rPr>
              <a:t>3.  Random truncation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901184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Embedding the same clip twice gave different vectors.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49011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BB3A3"/>
                </a:solidFill>
                <a:latin typeface="Calibri"/>
              </a:rPr>
              <a:t>replaced with mean-pooled windows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40096"/>
            <a:ext cx="5486400" cy="713232"/>
          </a:xfrm>
          <a:prstGeom prst="roundRect">
            <a:avLst>
              <a:gd name="adj" fmla="val 7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5431536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C4BB6"/>
                </a:solidFill>
                <a:latin typeface="Calibri"/>
              </a:rPr>
              <a:t>4.  Wrong checkpoint — dominant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687568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B667E"/>
                </a:solidFill>
                <a:latin typeface="Calibri"/>
              </a:rPr>
              <a:t>larger_clap_music is degenerate on this task.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56875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2BB3A3"/>
                </a:solidFill>
                <a:latin typeface="Calibri"/>
              </a:rPr>
              <a:t>P@5  0.172 → 0.315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578608"/>
            <a:ext cx="4956048" cy="3621024"/>
          </a:xfrm>
          <a:prstGeom prst="roundRect">
            <a:avLst>
              <a:gd name="adj" fmla="val 7000"/>
            </a:avLst>
          </a:prstGeom>
          <a:solidFill>
            <a:srgbClr val="1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67728" y="2779776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WHAT DEGENERATE MEANT,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163824"/>
            <a:ext cx="43708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566160"/>
            <a:ext cx="4370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C5BEDB"/>
                </a:solidFill>
                <a:latin typeface="Calibri"/>
              </a:rPr>
              <a:t>of every embedding's energy lay along one shared direction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151376"/>
            <a:ext cx="43708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chance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553712"/>
            <a:ext cx="4370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C5BEDB"/>
                </a:solidFill>
                <a:latin typeface="Calibri"/>
              </a:rPr>
              <a:t>exactly at chance on coarse genre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5138928"/>
            <a:ext cx="43708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 of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5541264"/>
            <a:ext cx="4370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C5BEDB"/>
                </a:solidFill>
                <a:latin typeface="Calibri"/>
              </a:rPr>
              <a:t>distinct rankings from four different text prompts — the space separated nothing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5815584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A93B"/>
                </a:solidFill>
                <a:latin typeface="Calibri"/>
              </a:rPr>
              <a:t>One controlled change — same clips, same code — nearly doubled P@5.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A1033"/>
                </a:solidFill>
                <a:latin typeface="Cambria"/>
              </a:rPr>
              <a:t>Finding 2: Anisotropy Correction Hurts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1024128"/>
            <a:ext cx="1030803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B667E"/>
                </a:solidFill>
                <a:latin typeface="Calibri"/>
              </a:rPr>
              <a:t>A controlled negative result — the standard remedy does not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2A263A"/>
                </a:solidFill>
                <a:latin typeface="Calibri"/>
              </a:rPr>
              <a:t>Anisotropy on the working checkpoint is still 0.853. The text-embedding literature [36], [37], [38] says to correct 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340864"/>
          <a:ext cx="60350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9848"/>
                <a:gridCol w="1164656"/>
                <a:gridCol w="1270534"/>
              </a:tblGrid>
              <a:tr h="384048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P@5 fine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P@5 coarse</a:t>
                      </a:r>
                    </a:p>
                  </a:txBody>
                  <a:tcPr marL="73152" marR="73152" marT="27432" marB="27432" anchor="ctr">
                    <a:solidFill>
                      <a:srgbClr val="1A1033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As produced by the model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0.315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 marL="73152" marR="73152" marT="27432" marB="27432" anchor="ctr">
                    <a:solidFill>
                      <a:srgbClr val="E8F7F5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Mean-centred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0.299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0.468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Mean-centred, top-1 PC removed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0.420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Mean-centred, top-2 PCs removed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0.251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A263A"/>
                          </a:solidFill>
                          <a:latin typeface="Calibri"/>
                        </a:rPr>
                        <a:t>0.355</a:t>
                      </a:r>
                    </a:p>
                  </a:txBody>
                  <a:tcPr marL="73152" marR="73152" marT="27432" marB="27432" anchor="ctr">
                    <a:solidFill>
                      <a:srgbClr val="F4F2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572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C4BB6"/>
                </a:solidFill>
                <a:latin typeface="Calibri"/>
              </a:rPr>
              <a:t>Retrieval degrades monotonically as correction is strengthened.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864" y="1609344"/>
            <a:ext cx="4718304" cy="2103120"/>
          </a:xfrm>
          <a:prstGeom prst="roundRect">
            <a:avLst>
              <a:gd name="adj" fmla="val 7000"/>
            </a:avLst>
          </a:prstGeom>
          <a:solidFill>
            <a:srgbClr val="1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87184" y="1810512"/>
            <a:ext cx="4169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THE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4" y="2139696"/>
            <a:ext cx="4169663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The dominant shared direction carries task-relevant signal here rather than nuisance variance. Anisotropy is worth measuring — it is the statistic that exposed the degenerate checkpoint — but it is not a defect to correct on reflex. Embeddings are used as the model produces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12864" y="3877056"/>
            <a:ext cx="471830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87184" y="4059936"/>
            <a:ext cx="4169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C4BB6"/>
                </a:solidFill>
                <a:latin typeface="Calibri"/>
              </a:rPr>
              <a:t>ALSO FOUND: CATALOGUE HYGIENE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4407408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BB3A3"/>
                </a:solidFill>
                <a:latin typeface="Cambria"/>
              </a:rPr>
              <a:t>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4389120"/>
            <a:ext cx="2706624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 i="0">
                <a:solidFill>
                  <a:srgbClr val="2A263A"/>
                </a:solidFill>
                <a:latin typeface="Calibri"/>
              </a:rPr>
              <a:t>of 759 metadata resolutions returned the wrong artist entirely — a lullaby cover of Green Day, a Migos track for a BTS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5303520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BB3A3"/>
                </a:solidFill>
                <a:latin typeface="Cambria"/>
              </a:rPr>
              <a:t>5 of 1,409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5285232"/>
            <a:ext cx="2706624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 i="0">
                <a:solidFill>
                  <a:srgbClr val="2A263A"/>
                </a:solidFill>
                <a:latin typeface="Calibri"/>
              </a:rPr>
              <a:t>non-music tracks (white noise, rain) ranked highly because people leave them playing for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10912"/>
            <a:ext cx="6035040" cy="1188720"/>
          </a:xfrm>
          <a:prstGeom prst="roundRect">
            <a:avLst>
              <a:gd name="adj" fmla="val 7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" y="5193792"/>
            <a:ext cx="5559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2A263A"/>
                </a:solidFill>
                <a:latin typeface="Calibri"/>
              </a:rPr>
              <a:t>Each mis-resolved row corrupted three things at once: the embedding described the wrong audio, the genre label used as ground truth belonged to a different recording, and a user searching the title heard something else.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840480"/>
            <a:ext cx="4754880" cy="4754880"/>
          </a:xfrm>
          <a:prstGeom prst="ellipse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566928" y="420624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033"/>
                </a:solidFill>
                <a:latin typeface="Cambria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384048"/>
            <a:ext cx="1030803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Conclusion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THREE SUBSTANTIVE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73936"/>
            <a:ext cx="3551834" cy="2212848"/>
          </a:xfrm>
          <a:prstGeom prst="roundRect">
            <a:avLst>
              <a:gd name="adj" fmla="val 7000"/>
            </a:avLst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04672" y="1975104"/>
            <a:ext cx="329184" cy="32918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32304"/>
            <a:ext cx="307634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mbria"/>
              </a:rPr>
              <a:t>Learned beats hand-crafted — and scales better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307634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C5BEDB"/>
                </a:solidFill>
                <a:latin typeface="Calibri"/>
              </a:rPr>
              <a:t>P@5 0.337 against 0.276 at 2.55× the random control. The margin widened from 7% to 22% as the catalogue grew, because the baseline deteriorated rather than the embedding improving.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930" y="1773936"/>
            <a:ext cx="3551834" cy="2212848"/>
          </a:xfrm>
          <a:prstGeom prst="roundRect">
            <a:avLst>
              <a:gd name="adj" fmla="val 7000"/>
            </a:avLst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57674" y="1975104"/>
            <a:ext cx="329184" cy="32918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7674" y="2432304"/>
            <a:ext cx="307634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mbria"/>
              </a:rPr>
              <a:t>A published checkpoint was degenerate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674" y="3017520"/>
            <a:ext cx="307634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C5BEDB"/>
                </a:solidFill>
                <a:latin typeface="Calibri"/>
              </a:rPr>
              <a:t>94% of embedding energy on one direction, chance-level genre agreement, one ranking for four prompts. A single substitution nearly doubled precision. Diagnose before trusting.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2932" y="1773936"/>
            <a:ext cx="3551834" cy="2212848"/>
          </a:xfrm>
          <a:prstGeom prst="roundRect">
            <a:avLst>
              <a:gd name="adj" fmla="val 7000"/>
            </a:avLst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0676" y="1975104"/>
            <a:ext cx="329184" cy="32918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033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6" y="2432304"/>
            <a:ext cx="307634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mbria"/>
              </a:rPr>
              <a:t>Anisotropy correction hurt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676" y="3017520"/>
            <a:ext cx="307634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C5BEDB"/>
                </a:solidFill>
                <a:latin typeface="Calibri"/>
              </a:rPr>
              <a:t>0.315 → 0.251 as correction strengthened. A remedy well supported for sentence embeddings does not transfer. Treat anisotropy as a symptom, not a target.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245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LIMITATIONS STATED IN THE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535424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Genre agreement is a proxy; the human listening study is unrun.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1,404 recordings — orders of magnitude below a real catalogue.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Humming is weak, and 8/25 is an upper bound on synthesised hums.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30 s excerpts, so structure outside the excerpt is unrepresented.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Cover versions outrank originals when a typed title carries no artist.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245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A93B"/>
                </a:solidFill>
                <a:latin typeface="Calibri"/>
              </a:rPr>
              <a:t>FUTURE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35424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Human listening study — the most valuable outstanding item.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Dedicated polyphonic melody extraction [32] for humming.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Approximate nearest-neighbour indexing [44] towards 10⁵ tracks.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Contrastive fine-tuning on music pairs, following MuLan [24].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·  Hybrid with collaborative signal [3] once interaction data exists.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254496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1">
                <a:solidFill>
                  <a:srgbClr val="F2A93B"/>
                </a:solidFill>
                <a:latin typeface="Calibri"/>
              </a:rPr>
              <a:t>All three findings came from measurement against a control, and two of them contradicted a reasonable prior expectation.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